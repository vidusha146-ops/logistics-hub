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3"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9" autoAdjust="0"/>
    <p:restoredTop sz="95488" autoAdjust="0"/>
  </p:normalViewPr>
  <p:slideViewPr>
    <p:cSldViewPr snapToGrid="0">
      <p:cViewPr>
        <p:scale>
          <a:sx n="89" d="100"/>
          <a:sy n="89" d="100"/>
        </p:scale>
        <p:origin x="321"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EE6082-511B-4D6E-8F62-B76F77C7E27E}" type="datetimeFigureOut">
              <a:rPr lang="en-IN" smtClean="0"/>
              <a:t>11-11-2025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48152-4045-48A2-BA6D-F7107879249B}" type="slidenum">
              <a:rPr lang="en-IN" smtClean="0"/>
              <a:t>‹#›</a:t>
            </a:fld>
            <a:endParaRPr lang="en-IN"/>
          </a:p>
        </p:txBody>
      </p:sp>
    </p:spTree>
    <p:extLst>
      <p:ext uri="{BB962C8B-B14F-4D97-AF65-F5344CB8AC3E}">
        <p14:creationId xmlns:p14="http://schemas.microsoft.com/office/powerpoint/2010/main" val="3031914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4D0408-899F-44EE-8C9E-1AA10634A276}"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40550704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D0408-899F-44EE-8C9E-1AA10634A276}"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32477899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4D0408-899F-44EE-8C9E-1AA10634A276}"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998078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4D0408-899F-44EE-8C9E-1AA10634A276}"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3447660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4D0408-899F-44EE-8C9E-1AA10634A276}" type="datetimeFigureOut">
              <a:rPr lang="en-IN" smtClean="0"/>
              <a:t>11-11-2025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255353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4D0408-899F-44EE-8C9E-1AA10634A276}" type="datetimeFigureOut">
              <a:rPr lang="en-IN" smtClean="0"/>
              <a:t>11-11-2025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3338922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4D0408-899F-44EE-8C9E-1AA10634A276}" type="datetimeFigureOut">
              <a:rPr lang="en-IN" smtClean="0"/>
              <a:t>11-11-2025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2335543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4D0408-899F-44EE-8C9E-1AA10634A276}"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2555267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D4D0408-899F-44EE-8C9E-1AA10634A276}" type="datetimeFigureOut">
              <a:rPr lang="en-IN" smtClean="0"/>
              <a:t>11-11-2025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192652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D0408-899F-44EE-8C9E-1AA10634A276}"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1677890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D0408-899F-44EE-8C9E-1AA10634A276}" type="datetimeFigureOut">
              <a:rPr lang="en-IN" smtClean="0"/>
              <a:t>11-11-2025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238DC3-B8E4-4740-A01A-538A7651FC33}" type="slidenum">
              <a:rPr lang="en-IN" smtClean="0"/>
              <a:t>‹#›</a:t>
            </a:fld>
            <a:endParaRPr lang="en-IN"/>
          </a:p>
        </p:txBody>
      </p:sp>
    </p:spTree>
    <p:extLst>
      <p:ext uri="{BB962C8B-B14F-4D97-AF65-F5344CB8AC3E}">
        <p14:creationId xmlns:p14="http://schemas.microsoft.com/office/powerpoint/2010/main" val="1567223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4D0408-899F-44EE-8C9E-1AA10634A276}" type="datetimeFigureOut">
              <a:rPr lang="en-IN" smtClean="0"/>
              <a:t>11-11-2025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238DC3-B8E4-4740-A01A-538A7651FC33}" type="slidenum">
              <a:rPr lang="en-IN" smtClean="0"/>
              <a:t>‹#›</a:t>
            </a:fld>
            <a:endParaRPr lang="en-IN"/>
          </a:p>
        </p:txBody>
      </p:sp>
    </p:spTree>
    <p:extLst>
      <p:ext uri="{BB962C8B-B14F-4D97-AF65-F5344CB8AC3E}">
        <p14:creationId xmlns:p14="http://schemas.microsoft.com/office/powerpoint/2010/main" val="3918261304"/>
      </p:ext>
    </p:extLst>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tasnimnews.com/en/news/2024/01/07/3018875/iran-s-mehran-border-exports-over-1-bln-of-non-oil-goods-to-iraq-official"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svgsilh.com/3f51b5/image/297272.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ourses.lumenlearning.com/wmopen-introductiontobusiness/chapter/introduction-to-supply-chain-management-and-logistics/" TargetMode="External"/><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enago.com/academy/ai-generated-research-hypothesis/" TargetMode="External"/><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hyperlink" Target="https://pxhere.com/en/photo/943126"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FD6CA0-78A6-D2DD-6A34-52919FEC6C32}"/>
              </a:ext>
            </a:extLst>
          </p:cNvPr>
          <p:cNvSpPr>
            <a:spLocks noGrp="1"/>
          </p:cNvSpPr>
          <p:nvPr>
            <p:ph type="title"/>
          </p:nvPr>
        </p:nvSpPr>
        <p:spPr/>
        <p:txBody>
          <a:bodyPr/>
          <a:lstStyle/>
          <a:p>
            <a:r>
              <a:rPr lang="en-IN" dirty="0"/>
              <a:t>       Direct Transport Connection App</a:t>
            </a:r>
          </a:p>
        </p:txBody>
      </p:sp>
      <p:sp>
        <p:nvSpPr>
          <p:cNvPr id="5" name="Content Placeholder 4">
            <a:extLst>
              <a:ext uri="{FF2B5EF4-FFF2-40B4-BE49-F238E27FC236}">
                <a16:creationId xmlns:a16="http://schemas.microsoft.com/office/drawing/2014/main" id="{6D790B4D-9B3C-9D3F-7086-15A672FEEF36}"/>
              </a:ext>
            </a:extLst>
          </p:cNvPr>
          <p:cNvSpPr>
            <a:spLocks noGrp="1"/>
          </p:cNvSpPr>
          <p:nvPr>
            <p:ph idx="1"/>
          </p:nvPr>
        </p:nvSpPr>
        <p:spPr>
          <a:xfrm>
            <a:off x="538843" y="1501551"/>
            <a:ext cx="10771414" cy="4636634"/>
          </a:xfrm>
        </p:spPr>
        <p:txBody>
          <a:bodyPr/>
          <a:lstStyle/>
          <a:p>
            <a:pPr marL="0" indent="0">
              <a:buNone/>
            </a:pPr>
            <a:r>
              <a:rPr lang="en-US" b="1" dirty="0"/>
              <a:t>“Connecting Transport Owners and Goods Managers Without Middlemen”</a:t>
            </a:r>
          </a:p>
          <a:p>
            <a:pPr marL="0" indent="0">
              <a:buNone/>
            </a:pPr>
            <a:r>
              <a:rPr lang="en-IN" dirty="0"/>
              <a:t>                                                                  Team name : </a:t>
            </a:r>
            <a:r>
              <a:rPr lang="en-IN" dirty="0">
                <a:solidFill>
                  <a:srgbClr val="FF0000"/>
                </a:solidFill>
              </a:rPr>
              <a:t>Innovators</a:t>
            </a:r>
          </a:p>
          <a:p>
            <a:pPr marL="0" indent="0">
              <a:buNone/>
            </a:pPr>
            <a:r>
              <a:rPr lang="en-IN" dirty="0"/>
              <a:t>                                                                   Team members :</a:t>
            </a:r>
          </a:p>
          <a:p>
            <a:pPr marL="0" indent="0">
              <a:buNone/>
            </a:pPr>
            <a:r>
              <a:rPr lang="en-IN" dirty="0"/>
              <a:t>                                                               </a:t>
            </a:r>
            <a:r>
              <a:rPr lang="en-IN" sz="2400" dirty="0"/>
              <a:t>Vidusha L S (IT-1</a:t>
            </a:r>
            <a:r>
              <a:rPr lang="en-IN" sz="2400" baseline="30000" dirty="0"/>
              <a:t>st</a:t>
            </a:r>
            <a:r>
              <a:rPr lang="en-IN" sz="2400" dirty="0"/>
              <a:t> year)</a:t>
            </a:r>
          </a:p>
          <a:p>
            <a:pPr marL="0" indent="0">
              <a:buNone/>
            </a:pPr>
            <a:r>
              <a:rPr lang="en-IN" sz="2400" dirty="0"/>
              <a:t>                                                                            Harsha Vardhini S (CSE-1</a:t>
            </a:r>
            <a:r>
              <a:rPr lang="en-IN" sz="2400" baseline="30000" dirty="0"/>
              <a:t>st</a:t>
            </a:r>
            <a:r>
              <a:rPr lang="en-IN" sz="2400" dirty="0"/>
              <a:t> year)</a:t>
            </a:r>
          </a:p>
          <a:p>
            <a:pPr marL="0" indent="0">
              <a:buNone/>
            </a:pPr>
            <a:r>
              <a:rPr lang="en-IN" sz="2400" dirty="0"/>
              <a:t>                                                                            Anushya S (CSE-1</a:t>
            </a:r>
            <a:r>
              <a:rPr lang="en-IN" sz="2400" baseline="30000" dirty="0"/>
              <a:t>st</a:t>
            </a:r>
            <a:r>
              <a:rPr lang="en-IN" sz="2400" dirty="0"/>
              <a:t> year)</a:t>
            </a:r>
          </a:p>
          <a:p>
            <a:pPr marL="0" indent="0">
              <a:buNone/>
            </a:pPr>
            <a:r>
              <a:rPr lang="en-IN" sz="2400" dirty="0"/>
              <a:t>                                                                            Bhoomika T (CSE-1</a:t>
            </a:r>
            <a:r>
              <a:rPr lang="en-IN" sz="2400" baseline="30000" dirty="0"/>
              <a:t>st</a:t>
            </a:r>
            <a:r>
              <a:rPr lang="en-IN" sz="2400" dirty="0"/>
              <a:t> year)</a:t>
            </a:r>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a:p>
            <a:pPr marL="0" indent="0">
              <a:buNone/>
            </a:pPr>
            <a:endParaRPr lang="en-IN" sz="2400" dirty="0"/>
          </a:p>
        </p:txBody>
      </p:sp>
      <p:pic>
        <p:nvPicPr>
          <p:cNvPr id="13" name="Picture 12" descr="A row of trucks on a road&#10;&#10;AI-generated content may be incorrect.">
            <a:extLst>
              <a:ext uri="{FF2B5EF4-FFF2-40B4-BE49-F238E27FC236}">
                <a16:creationId xmlns:a16="http://schemas.microsoft.com/office/drawing/2014/main" id="{752D92F3-46F2-3614-1103-C1B66CB8062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193140" y="2736393"/>
            <a:ext cx="3763096" cy="2620056"/>
          </a:xfrm>
          <a:prstGeom prst="rect">
            <a:avLst/>
          </a:prstGeom>
        </p:spPr>
      </p:pic>
    </p:spTree>
    <p:extLst>
      <p:ext uri="{BB962C8B-B14F-4D97-AF65-F5344CB8AC3E}">
        <p14:creationId xmlns:p14="http://schemas.microsoft.com/office/powerpoint/2010/main" val="1696227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3A33A-65F9-70B9-AFAE-278853186AE8}"/>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A5C9B28-AE9C-79BC-6A5F-8C94C483E99C}"/>
              </a:ext>
            </a:extLst>
          </p:cNvPr>
          <p:cNvSpPr>
            <a:spLocks noGrp="1"/>
          </p:cNvSpPr>
          <p:nvPr>
            <p:ph idx="1"/>
          </p:nvPr>
        </p:nvSpPr>
        <p:spPr>
          <a:xfrm>
            <a:off x="838200" y="810986"/>
            <a:ext cx="10515600" cy="5365977"/>
          </a:xfrm>
        </p:spPr>
        <p:txBody>
          <a:bodyPr/>
          <a:lstStyle/>
          <a:p>
            <a:pPr marL="0" indent="0">
              <a:buNone/>
            </a:pPr>
            <a:endParaRPr lang="en-US" dirty="0"/>
          </a:p>
          <a:p>
            <a:pPr marL="0" indent="0">
              <a:buNone/>
            </a:pPr>
            <a:r>
              <a:rPr lang="en-US" dirty="0"/>
              <a:t>Current Transport System </a:t>
            </a:r>
          </a:p>
          <a:p>
            <a:r>
              <a:rPr lang="en-US" dirty="0"/>
              <a:t>The present transport system typically involves multiple intermediaries , who coordinate between transport owners and goods managers.</a:t>
            </a:r>
          </a:p>
          <a:p>
            <a:r>
              <a:rPr lang="en-US" dirty="0"/>
              <a:t> This multilayered setup can lead to delays, lack of real-time information, increased costs, and difficulties in tracking goods.</a:t>
            </a:r>
            <a:endParaRPr lang="en-IN" dirty="0"/>
          </a:p>
        </p:txBody>
      </p:sp>
      <p:pic>
        <p:nvPicPr>
          <p:cNvPr id="6" name="Picture 5" descr="A diagram of a company&#10;&#10;AI-generated content may be incorrect.">
            <a:extLst>
              <a:ext uri="{FF2B5EF4-FFF2-40B4-BE49-F238E27FC236}">
                <a16:creationId xmlns:a16="http://schemas.microsoft.com/office/drawing/2014/main" id="{269D568B-BEC6-7765-6042-DC85F1FBD3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3571" y="4023360"/>
            <a:ext cx="8520057" cy="2599464"/>
          </a:xfrm>
          <a:prstGeom prst="rect">
            <a:avLst/>
          </a:prstGeom>
        </p:spPr>
      </p:pic>
    </p:spTree>
    <p:extLst>
      <p:ext uri="{BB962C8B-B14F-4D97-AF65-F5344CB8AC3E}">
        <p14:creationId xmlns:p14="http://schemas.microsoft.com/office/powerpoint/2010/main" val="1978701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45B-FA85-EE17-BF5D-DE436137431F}"/>
              </a:ext>
            </a:extLst>
          </p:cNvPr>
          <p:cNvSpPr>
            <a:spLocks noGrp="1"/>
          </p:cNvSpPr>
          <p:nvPr>
            <p:ph type="title"/>
          </p:nvPr>
        </p:nvSpPr>
        <p:spPr/>
        <p:txBody>
          <a:bodyPr/>
          <a:lstStyle/>
          <a:p>
            <a:r>
              <a:rPr lang="en-IN" dirty="0"/>
              <a:t>How the Idea Works</a:t>
            </a:r>
          </a:p>
        </p:txBody>
      </p:sp>
      <p:sp>
        <p:nvSpPr>
          <p:cNvPr id="3" name="Content Placeholder 2">
            <a:extLst>
              <a:ext uri="{FF2B5EF4-FFF2-40B4-BE49-F238E27FC236}">
                <a16:creationId xmlns:a16="http://schemas.microsoft.com/office/drawing/2014/main" id="{ABC78AF4-A631-9986-E892-8BAC93B01A64}"/>
              </a:ext>
            </a:extLst>
          </p:cNvPr>
          <p:cNvSpPr>
            <a:spLocks noGrp="1"/>
          </p:cNvSpPr>
          <p:nvPr>
            <p:ph idx="1"/>
          </p:nvPr>
        </p:nvSpPr>
        <p:spPr>
          <a:xfrm>
            <a:off x="838200" y="1333500"/>
            <a:ext cx="10515600" cy="4843463"/>
          </a:xfrm>
        </p:spPr>
        <p:txBody>
          <a:bodyPr>
            <a:normAutofit/>
          </a:bodyPr>
          <a:lstStyle/>
          <a:p>
            <a:r>
              <a:rPr lang="en-US" dirty="0"/>
              <a:t>Both goods managers and transport owners register and interact on a unified digital platform.</a:t>
            </a:r>
          </a:p>
          <a:p>
            <a:r>
              <a:rPr lang="en-US" dirty="0"/>
              <a:t>The app provides features for posting goods transport requirements and available transport resources in real time.</a:t>
            </a:r>
          </a:p>
          <a:p>
            <a:r>
              <a:rPr lang="en-US" dirty="0"/>
              <a:t>Automated matching algorithms pair suitable transport options with demand, enabling direct negotiation and deal finalization.</a:t>
            </a:r>
          </a:p>
          <a:p>
            <a:r>
              <a:rPr lang="en-US" dirty="0"/>
              <a:t>Integrated tracking and payment systems streamline shipment logistics from booking to delivery, all within the app.</a:t>
            </a:r>
            <a:endParaRPr lang="en-IN" dirty="0"/>
          </a:p>
        </p:txBody>
      </p:sp>
    </p:spTree>
    <p:extLst>
      <p:ext uri="{BB962C8B-B14F-4D97-AF65-F5344CB8AC3E}">
        <p14:creationId xmlns:p14="http://schemas.microsoft.com/office/powerpoint/2010/main" val="3889298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F854F29-1612-42C3-81C3-CBDAFD037614}"/>
              </a:ext>
            </a:extLst>
          </p:cNvPr>
          <p:cNvSpPr txBox="1"/>
          <p:nvPr/>
        </p:nvSpPr>
        <p:spPr>
          <a:xfrm>
            <a:off x="217714" y="448748"/>
            <a:ext cx="11756571" cy="2800767"/>
          </a:xfrm>
          <a:prstGeom prst="rect">
            <a:avLst/>
          </a:prstGeom>
          <a:noFill/>
        </p:spPr>
        <p:txBody>
          <a:bodyPr wrap="square">
            <a:spAutoFit/>
          </a:bodyPr>
          <a:lstStyle/>
          <a:p>
            <a:r>
              <a:rPr lang="en-IN" sz="3200" dirty="0"/>
              <a:t>Key Benefits </a:t>
            </a:r>
          </a:p>
          <a:p>
            <a:endParaRPr lang="en-IN" sz="3200" dirty="0"/>
          </a:p>
          <a:p>
            <a:pPr marL="285750" indent="-285750">
              <a:buFont typeface="Arial" panose="020B0604020202020204" pitchFamily="34" charset="0"/>
              <a:buChar char="•"/>
            </a:pPr>
            <a:r>
              <a:rPr lang="en-IN" sz="2800" dirty="0"/>
              <a:t>Reduced Costs.</a:t>
            </a:r>
          </a:p>
          <a:p>
            <a:pPr marL="285750" indent="-285750">
              <a:buFont typeface="Arial" panose="020B0604020202020204" pitchFamily="34" charset="0"/>
              <a:buChar char="•"/>
            </a:pPr>
            <a:r>
              <a:rPr lang="en-IN" sz="2800" dirty="0"/>
              <a:t>Faster Transactions.</a:t>
            </a:r>
          </a:p>
          <a:p>
            <a:pPr marL="285750" indent="-285750">
              <a:buFont typeface="Arial" panose="020B0604020202020204" pitchFamily="34" charset="0"/>
              <a:buChar char="•"/>
            </a:pPr>
            <a:r>
              <a:rPr lang="en-IN" sz="2800" dirty="0"/>
              <a:t>Transparency and Trust.</a:t>
            </a:r>
          </a:p>
          <a:p>
            <a:pPr marL="285750" indent="-285750">
              <a:buFont typeface="Arial" panose="020B0604020202020204" pitchFamily="34" charset="0"/>
              <a:buChar char="•"/>
            </a:pPr>
            <a:r>
              <a:rPr lang="en-IN" sz="2800" dirty="0"/>
              <a:t>Better Utilization.</a:t>
            </a:r>
          </a:p>
        </p:txBody>
      </p:sp>
      <p:pic>
        <p:nvPicPr>
          <p:cNvPr id="3" name="Picture 2" descr="A diagram of a company's company's benefits&#10;&#10;AI-generated content may be incorrect.">
            <a:extLst>
              <a:ext uri="{FF2B5EF4-FFF2-40B4-BE49-F238E27FC236}">
                <a16:creationId xmlns:a16="http://schemas.microsoft.com/office/drawing/2014/main" id="{31E0FEEA-B5A6-80DA-F571-EDA52E05D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58447" y="257175"/>
            <a:ext cx="7629525" cy="6343650"/>
          </a:xfrm>
          <a:prstGeom prst="rect">
            <a:avLst/>
          </a:prstGeom>
        </p:spPr>
      </p:pic>
    </p:spTree>
    <p:extLst>
      <p:ext uri="{BB962C8B-B14F-4D97-AF65-F5344CB8AC3E}">
        <p14:creationId xmlns:p14="http://schemas.microsoft.com/office/powerpoint/2010/main" val="1250334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79B21-F520-E8B3-8EBD-36167BB266B3}"/>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21B58297-F2A8-BCAE-1045-BD78E14F4829}"/>
              </a:ext>
            </a:extLst>
          </p:cNvPr>
          <p:cNvSpPr>
            <a:spLocks noGrp="1"/>
          </p:cNvSpPr>
          <p:nvPr>
            <p:ph idx="1"/>
          </p:nvPr>
        </p:nvSpPr>
        <p:spPr>
          <a:xfrm>
            <a:off x="631372" y="1660299"/>
            <a:ext cx="10515600" cy="4351338"/>
          </a:xfrm>
        </p:spPr>
        <p:txBody>
          <a:bodyPr/>
          <a:lstStyle/>
          <a:p>
            <a:pPr marL="0" indent="0">
              <a:buNone/>
            </a:pPr>
            <a:r>
              <a:rPr lang="en-US" dirty="0"/>
              <a:t>“In the current transport industry, goods delivery relies heavily on intermediaries who increase cost, delay communication, and reduce transparency. There is a need for a digital platform that enables direct connection between transport owners and goods managers.”</a:t>
            </a:r>
          </a:p>
          <a:p>
            <a:pPr marL="0" indent="0">
              <a:buNone/>
            </a:pPr>
            <a:r>
              <a:rPr lang="en-US" dirty="0"/>
              <a:t>Highlight issues like:</a:t>
            </a:r>
          </a:p>
          <a:p>
            <a:r>
              <a:rPr lang="en-US" dirty="0"/>
              <a:t>Increased cost due to middlemen</a:t>
            </a:r>
          </a:p>
          <a:p>
            <a:r>
              <a:rPr lang="en-US" dirty="0"/>
              <a:t>Time delays</a:t>
            </a:r>
          </a:p>
          <a:p>
            <a:r>
              <a:rPr lang="en-US" dirty="0"/>
              <a:t>Communication gaps</a:t>
            </a:r>
          </a:p>
          <a:p>
            <a:r>
              <a:rPr lang="en-US" dirty="0"/>
              <a:t>Reduced profits for owners</a:t>
            </a:r>
            <a:endParaRPr lang="en-IN" dirty="0"/>
          </a:p>
        </p:txBody>
      </p:sp>
      <p:pic>
        <p:nvPicPr>
          <p:cNvPr id="5" name="Graphic 4">
            <a:extLst>
              <a:ext uri="{FF2B5EF4-FFF2-40B4-BE49-F238E27FC236}">
                <a16:creationId xmlns:a16="http://schemas.microsoft.com/office/drawing/2014/main" id="{8C11D4C4-1AB8-275F-0BA2-6DC454FD703E}"/>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a:off x="6662058" y="3960509"/>
            <a:ext cx="4054929" cy="2249571"/>
          </a:xfrm>
          <a:prstGeom prst="rect">
            <a:avLst/>
          </a:prstGeom>
        </p:spPr>
      </p:pic>
    </p:spTree>
    <p:extLst>
      <p:ext uri="{BB962C8B-B14F-4D97-AF65-F5344CB8AC3E}">
        <p14:creationId xmlns:p14="http://schemas.microsoft.com/office/powerpoint/2010/main" val="3566011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AA53E-BFFE-1155-C34A-1732EC4F9427}"/>
              </a:ext>
            </a:extLst>
          </p:cNvPr>
          <p:cNvSpPr>
            <a:spLocks noGrp="1"/>
          </p:cNvSpPr>
          <p:nvPr>
            <p:ph type="title"/>
          </p:nvPr>
        </p:nvSpPr>
        <p:spPr/>
        <p:txBody>
          <a:bodyPr/>
          <a:lstStyle/>
          <a:p>
            <a:r>
              <a:rPr lang="en-IN" dirty="0"/>
              <a:t>Aim and objectives</a:t>
            </a:r>
          </a:p>
        </p:txBody>
      </p:sp>
      <p:sp>
        <p:nvSpPr>
          <p:cNvPr id="3" name="Content Placeholder 2">
            <a:extLst>
              <a:ext uri="{FF2B5EF4-FFF2-40B4-BE49-F238E27FC236}">
                <a16:creationId xmlns:a16="http://schemas.microsoft.com/office/drawing/2014/main" id="{FA6C067C-D165-5D80-3A60-E005F223B9A2}"/>
              </a:ext>
            </a:extLst>
          </p:cNvPr>
          <p:cNvSpPr>
            <a:spLocks noGrp="1"/>
          </p:cNvSpPr>
          <p:nvPr>
            <p:ph idx="1"/>
          </p:nvPr>
        </p:nvSpPr>
        <p:spPr/>
        <p:txBody>
          <a:bodyPr/>
          <a:lstStyle/>
          <a:p>
            <a:pPr marL="0" indent="0">
              <a:buNone/>
            </a:pPr>
            <a:r>
              <a:rPr lang="en-US" dirty="0"/>
              <a:t>Aim:</a:t>
            </a:r>
          </a:p>
          <a:p>
            <a:pPr marL="0" indent="0">
              <a:buNone/>
            </a:pPr>
            <a:r>
              <a:rPr lang="en-US" dirty="0"/>
              <a:t>To develop an app that directly connects transport owners and goods managers to manage loads efficiently without intermediaries.</a:t>
            </a:r>
          </a:p>
          <a:p>
            <a:pPr marL="0" indent="0">
              <a:buNone/>
            </a:pPr>
            <a:r>
              <a:rPr lang="en-US" dirty="0"/>
              <a:t>Objectives:</a:t>
            </a:r>
          </a:p>
          <a:p>
            <a:r>
              <a:rPr lang="en-US" dirty="0"/>
              <a:t>Eliminate third-party intermediaries</a:t>
            </a:r>
          </a:p>
          <a:p>
            <a:r>
              <a:rPr lang="en-US" dirty="0"/>
              <a:t>Improve transparency and communication</a:t>
            </a:r>
          </a:p>
          <a:p>
            <a:r>
              <a:rPr lang="en-US" dirty="0"/>
              <a:t>Reduce transportation cost and time</a:t>
            </a:r>
          </a:p>
          <a:p>
            <a:r>
              <a:rPr lang="en-US" dirty="0"/>
              <a:t>Enable real-time load booking and </a:t>
            </a:r>
            <a:r>
              <a:rPr lang="en-US" dirty="0" err="1"/>
              <a:t>trackingIncrease</a:t>
            </a:r>
            <a:r>
              <a:rPr lang="en-US" dirty="0"/>
              <a:t> profit margins for transport owners</a:t>
            </a:r>
            <a:endParaRPr lang="en-IN" dirty="0"/>
          </a:p>
        </p:txBody>
      </p:sp>
    </p:spTree>
    <p:extLst>
      <p:ext uri="{BB962C8B-B14F-4D97-AF65-F5344CB8AC3E}">
        <p14:creationId xmlns:p14="http://schemas.microsoft.com/office/powerpoint/2010/main" val="2720442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1B7CF-C96E-A9A6-486D-7260E74BAA05}"/>
              </a:ext>
            </a:extLst>
          </p:cNvPr>
          <p:cNvSpPr>
            <a:spLocks noGrp="1"/>
          </p:cNvSpPr>
          <p:nvPr>
            <p:ph type="title"/>
          </p:nvPr>
        </p:nvSpPr>
        <p:spPr/>
        <p:txBody>
          <a:bodyPr/>
          <a:lstStyle/>
          <a:p>
            <a:r>
              <a:rPr lang="en-IN" dirty="0"/>
              <a:t>Proposed Solution</a:t>
            </a:r>
          </a:p>
        </p:txBody>
      </p:sp>
      <p:sp>
        <p:nvSpPr>
          <p:cNvPr id="3" name="Content Placeholder 2">
            <a:extLst>
              <a:ext uri="{FF2B5EF4-FFF2-40B4-BE49-F238E27FC236}">
                <a16:creationId xmlns:a16="http://schemas.microsoft.com/office/drawing/2014/main" id="{E52EEB0B-2C63-CC7F-7862-F8F8BDE35095}"/>
              </a:ext>
            </a:extLst>
          </p:cNvPr>
          <p:cNvSpPr>
            <a:spLocks noGrp="1"/>
          </p:cNvSpPr>
          <p:nvPr>
            <p:ph idx="1"/>
          </p:nvPr>
        </p:nvSpPr>
        <p:spPr>
          <a:xfrm>
            <a:off x="838200" y="1442357"/>
            <a:ext cx="10515600" cy="4734606"/>
          </a:xfrm>
        </p:spPr>
        <p:txBody>
          <a:bodyPr>
            <a:normAutofit/>
          </a:bodyPr>
          <a:lstStyle/>
          <a:p>
            <a:pPr marL="0" indent="0">
              <a:buNone/>
            </a:pPr>
            <a:r>
              <a:rPr lang="en-US" dirty="0"/>
              <a:t>A mobile/web application that:</a:t>
            </a:r>
          </a:p>
          <a:p>
            <a:r>
              <a:rPr lang="en-US" dirty="0"/>
              <a:t> goods managers to post transport </a:t>
            </a:r>
          </a:p>
          <a:p>
            <a:pPr marL="0" indent="0">
              <a:buNone/>
            </a:pPr>
            <a:r>
              <a:rPr lang="en-US" dirty="0"/>
              <a:t>requirements </a:t>
            </a:r>
          </a:p>
          <a:p>
            <a:r>
              <a:rPr lang="en-US" dirty="0"/>
              <a:t> transport owners view and accept loads</a:t>
            </a:r>
          </a:p>
          <a:p>
            <a:pPr marL="0" indent="0">
              <a:buNone/>
            </a:pPr>
            <a:r>
              <a:rPr lang="en-US" dirty="0"/>
              <a:t> directly</a:t>
            </a:r>
          </a:p>
          <a:p>
            <a:r>
              <a:rPr lang="en-US" dirty="0"/>
              <a:t>Provides call options for direct </a:t>
            </a:r>
          </a:p>
          <a:p>
            <a:pPr marL="0" indent="0">
              <a:buNone/>
            </a:pPr>
            <a:r>
              <a:rPr lang="en-US" dirty="0"/>
              <a:t>communication</a:t>
            </a:r>
          </a:p>
          <a:p>
            <a:r>
              <a:rPr lang="en-US" dirty="0"/>
              <a:t>Tracks transport progress in real </a:t>
            </a:r>
          </a:p>
          <a:p>
            <a:r>
              <a:rPr lang="en-US" dirty="0"/>
              <a:t>Time Includes secure payment gateway </a:t>
            </a:r>
          </a:p>
          <a:p>
            <a:pPr marL="0" indent="0">
              <a:buNone/>
            </a:pPr>
            <a:endParaRPr lang="en-US" dirty="0"/>
          </a:p>
          <a:p>
            <a:pPr marL="0" indent="0">
              <a:buNone/>
            </a:pPr>
            <a:endParaRPr lang="en-IN" dirty="0"/>
          </a:p>
        </p:txBody>
      </p:sp>
      <p:pic>
        <p:nvPicPr>
          <p:cNvPr id="6" name="Picture 5" descr="A diagram of a warehouse&#10;&#10;AI-generated content may be incorrect.">
            <a:extLst>
              <a:ext uri="{FF2B5EF4-FFF2-40B4-BE49-F238E27FC236}">
                <a16:creationId xmlns:a16="http://schemas.microsoft.com/office/drawing/2014/main" id="{A322034A-8931-3F81-4AE0-00DD40B65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2730" y="2220804"/>
            <a:ext cx="3948953" cy="2058497"/>
          </a:xfrm>
          <a:prstGeom prst="rect">
            <a:avLst/>
          </a:prstGeom>
        </p:spPr>
      </p:pic>
    </p:spTree>
    <p:extLst>
      <p:ext uri="{BB962C8B-B14F-4D97-AF65-F5344CB8AC3E}">
        <p14:creationId xmlns:p14="http://schemas.microsoft.com/office/powerpoint/2010/main" val="1411014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C984B-3349-ABFC-366F-BF00D5D15392}"/>
              </a:ext>
            </a:extLst>
          </p:cNvPr>
          <p:cNvSpPr>
            <a:spLocks noGrp="1"/>
          </p:cNvSpPr>
          <p:nvPr>
            <p:ph type="title"/>
          </p:nvPr>
        </p:nvSpPr>
        <p:spPr/>
        <p:txBody>
          <a:bodyPr/>
          <a:lstStyle/>
          <a:p>
            <a:r>
              <a:rPr lang="en-IN" dirty="0"/>
              <a:t>System Architecture </a:t>
            </a:r>
          </a:p>
        </p:txBody>
      </p:sp>
      <p:sp>
        <p:nvSpPr>
          <p:cNvPr id="3" name="Content Placeholder 2">
            <a:extLst>
              <a:ext uri="{FF2B5EF4-FFF2-40B4-BE49-F238E27FC236}">
                <a16:creationId xmlns:a16="http://schemas.microsoft.com/office/drawing/2014/main" id="{1D5B4591-93C8-4E06-6D58-09C1B1E0F5FB}"/>
              </a:ext>
            </a:extLst>
          </p:cNvPr>
          <p:cNvSpPr>
            <a:spLocks noGrp="1"/>
          </p:cNvSpPr>
          <p:nvPr>
            <p:ph idx="1"/>
          </p:nvPr>
        </p:nvSpPr>
        <p:spPr>
          <a:xfrm>
            <a:off x="685800" y="1439181"/>
            <a:ext cx="10515600" cy="5119461"/>
          </a:xfrm>
        </p:spPr>
        <p:style>
          <a:lnRef idx="2">
            <a:schemeClr val="accent6"/>
          </a:lnRef>
          <a:fillRef idx="1">
            <a:schemeClr val="lt1"/>
          </a:fillRef>
          <a:effectRef idx="0">
            <a:schemeClr val="accent6"/>
          </a:effectRef>
          <a:fontRef idx="minor">
            <a:schemeClr val="dk1"/>
          </a:fontRef>
        </p:style>
        <p:txBody>
          <a:bodyPr/>
          <a:lstStyle/>
          <a:p>
            <a:pPr marL="0" indent="0">
              <a:buNone/>
            </a:pPr>
            <a:endParaRPr lang="en-IN" dirty="0"/>
          </a:p>
          <a:p>
            <a:pPr marL="0" indent="0">
              <a:buNone/>
            </a:pPr>
            <a:r>
              <a:rPr lang="en-IN" dirty="0"/>
              <a:t>  </a:t>
            </a:r>
          </a:p>
        </p:txBody>
      </p:sp>
      <p:sp>
        <p:nvSpPr>
          <p:cNvPr id="23" name="Rectangle: Rounded Corners 22">
            <a:extLst>
              <a:ext uri="{FF2B5EF4-FFF2-40B4-BE49-F238E27FC236}">
                <a16:creationId xmlns:a16="http://schemas.microsoft.com/office/drawing/2014/main" id="{6C2A9FE2-0A89-D9C5-EDDB-DAE1F74094AB}"/>
              </a:ext>
            </a:extLst>
          </p:cNvPr>
          <p:cNvSpPr/>
          <p:nvPr/>
        </p:nvSpPr>
        <p:spPr>
          <a:xfrm>
            <a:off x="775607" y="1838663"/>
            <a:ext cx="2778579" cy="6585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GOODS MANAGER</a:t>
            </a:r>
          </a:p>
        </p:txBody>
      </p:sp>
      <p:cxnSp>
        <p:nvCxnSpPr>
          <p:cNvPr id="25" name="Straight Arrow Connector 24">
            <a:extLst>
              <a:ext uri="{FF2B5EF4-FFF2-40B4-BE49-F238E27FC236}">
                <a16:creationId xmlns:a16="http://schemas.microsoft.com/office/drawing/2014/main" id="{9E099493-CE41-1C9E-EA62-300E78596107}"/>
              </a:ext>
            </a:extLst>
          </p:cNvPr>
          <p:cNvCxnSpPr/>
          <p:nvPr/>
        </p:nvCxnSpPr>
        <p:spPr>
          <a:xfrm>
            <a:off x="3554186" y="2167956"/>
            <a:ext cx="107224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6" name="Rectangle: Rounded Corners 25">
            <a:extLst>
              <a:ext uri="{FF2B5EF4-FFF2-40B4-BE49-F238E27FC236}">
                <a16:creationId xmlns:a16="http://schemas.microsoft.com/office/drawing/2014/main" id="{91E474A8-BD41-4900-D2E9-201DC34A785A}"/>
              </a:ext>
            </a:extLst>
          </p:cNvPr>
          <p:cNvSpPr/>
          <p:nvPr/>
        </p:nvSpPr>
        <p:spPr>
          <a:xfrm>
            <a:off x="4604658" y="1838663"/>
            <a:ext cx="2356757" cy="65858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POSTS LOAD</a:t>
            </a:r>
          </a:p>
        </p:txBody>
      </p:sp>
      <p:cxnSp>
        <p:nvCxnSpPr>
          <p:cNvPr id="28" name="Straight Arrow Connector 27">
            <a:extLst>
              <a:ext uri="{FF2B5EF4-FFF2-40B4-BE49-F238E27FC236}">
                <a16:creationId xmlns:a16="http://schemas.microsoft.com/office/drawing/2014/main" id="{CB2136B7-6C17-7DCD-E0EA-9114DDF64840}"/>
              </a:ext>
            </a:extLst>
          </p:cNvPr>
          <p:cNvCxnSpPr/>
          <p:nvPr/>
        </p:nvCxnSpPr>
        <p:spPr>
          <a:xfrm>
            <a:off x="6961415" y="2221363"/>
            <a:ext cx="1050472"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9" name="Rectangle: Rounded Corners 28">
            <a:extLst>
              <a:ext uri="{FF2B5EF4-FFF2-40B4-BE49-F238E27FC236}">
                <a16:creationId xmlns:a16="http://schemas.microsoft.com/office/drawing/2014/main" id="{11D7A810-4E12-AF27-73E5-E094E3080B73}"/>
              </a:ext>
            </a:extLst>
          </p:cNvPr>
          <p:cNvSpPr/>
          <p:nvPr/>
        </p:nvSpPr>
        <p:spPr>
          <a:xfrm>
            <a:off x="8011887" y="1767143"/>
            <a:ext cx="2356757" cy="80162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TRANSPORT OWNER</a:t>
            </a:r>
          </a:p>
        </p:txBody>
      </p:sp>
      <p:cxnSp>
        <p:nvCxnSpPr>
          <p:cNvPr id="33" name="Straight Arrow Connector 32">
            <a:extLst>
              <a:ext uri="{FF2B5EF4-FFF2-40B4-BE49-F238E27FC236}">
                <a16:creationId xmlns:a16="http://schemas.microsoft.com/office/drawing/2014/main" id="{EB91336C-20EF-65DB-6760-7103427843C5}"/>
              </a:ext>
            </a:extLst>
          </p:cNvPr>
          <p:cNvCxnSpPr/>
          <p:nvPr/>
        </p:nvCxnSpPr>
        <p:spPr>
          <a:xfrm>
            <a:off x="9190265" y="2568768"/>
            <a:ext cx="0" cy="941614"/>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4" name="Rectangle: Rounded Corners 33">
            <a:extLst>
              <a:ext uri="{FF2B5EF4-FFF2-40B4-BE49-F238E27FC236}">
                <a16:creationId xmlns:a16="http://schemas.microsoft.com/office/drawing/2014/main" id="{4B3ED54D-D96B-B3AE-D639-80A04C810568}"/>
              </a:ext>
            </a:extLst>
          </p:cNvPr>
          <p:cNvSpPr/>
          <p:nvPr/>
        </p:nvSpPr>
        <p:spPr>
          <a:xfrm>
            <a:off x="8011887" y="3528260"/>
            <a:ext cx="2411182" cy="69029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ACCEPTS LOAD</a:t>
            </a:r>
          </a:p>
        </p:txBody>
      </p:sp>
      <p:cxnSp>
        <p:nvCxnSpPr>
          <p:cNvPr id="36" name="Straight Arrow Connector 35">
            <a:extLst>
              <a:ext uri="{FF2B5EF4-FFF2-40B4-BE49-F238E27FC236}">
                <a16:creationId xmlns:a16="http://schemas.microsoft.com/office/drawing/2014/main" id="{8CAD1442-12D3-F40A-202D-B4815E882F66}"/>
              </a:ext>
            </a:extLst>
          </p:cNvPr>
          <p:cNvCxnSpPr/>
          <p:nvPr/>
        </p:nvCxnSpPr>
        <p:spPr>
          <a:xfrm>
            <a:off x="9190265" y="4218556"/>
            <a:ext cx="0" cy="88140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7" name="Rectangle: Rounded Corners 36">
            <a:extLst>
              <a:ext uri="{FF2B5EF4-FFF2-40B4-BE49-F238E27FC236}">
                <a16:creationId xmlns:a16="http://schemas.microsoft.com/office/drawing/2014/main" id="{1C8CF403-BB7D-E2DE-F465-F97A4D3A4D1E}"/>
              </a:ext>
            </a:extLst>
          </p:cNvPr>
          <p:cNvSpPr/>
          <p:nvPr/>
        </p:nvSpPr>
        <p:spPr>
          <a:xfrm>
            <a:off x="8011886" y="5099957"/>
            <a:ext cx="2509155" cy="69029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TRACKING</a:t>
            </a:r>
          </a:p>
        </p:txBody>
      </p:sp>
      <p:cxnSp>
        <p:nvCxnSpPr>
          <p:cNvPr id="39" name="Straight Arrow Connector 38">
            <a:extLst>
              <a:ext uri="{FF2B5EF4-FFF2-40B4-BE49-F238E27FC236}">
                <a16:creationId xmlns:a16="http://schemas.microsoft.com/office/drawing/2014/main" id="{9159D3EE-7DAC-FBB7-1361-4F2E65BF6DE5}"/>
              </a:ext>
            </a:extLst>
          </p:cNvPr>
          <p:cNvCxnSpPr>
            <a:cxnSpLocks/>
          </p:cNvCxnSpPr>
          <p:nvPr/>
        </p:nvCxnSpPr>
        <p:spPr>
          <a:xfrm flipH="1">
            <a:off x="7081157" y="5475514"/>
            <a:ext cx="93072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1" name="Rectangle: Rounded Corners 40">
            <a:extLst>
              <a:ext uri="{FF2B5EF4-FFF2-40B4-BE49-F238E27FC236}">
                <a16:creationId xmlns:a16="http://schemas.microsoft.com/office/drawing/2014/main" id="{9EF36FD3-64A3-BF84-CEB9-4EC8C957195A}"/>
              </a:ext>
            </a:extLst>
          </p:cNvPr>
          <p:cNvSpPr/>
          <p:nvPr/>
        </p:nvSpPr>
        <p:spPr>
          <a:xfrm>
            <a:off x="4490356" y="5146225"/>
            <a:ext cx="2590801" cy="6585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DELIVERY CONFIRMATION</a:t>
            </a:r>
          </a:p>
        </p:txBody>
      </p:sp>
      <p:cxnSp>
        <p:nvCxnSpPr>
          <p:cNvPr id="43" name="Straight Arrow Connector 42">
            <a:extLst>
              <a:ext uri="{FF2B5EF4-FFF2-40B4-BE49-F238E27FC236}">
                <a16:creationId xmlns:a16="http://schemas.microsoft.com/office/drawing/2014/main" id="{872BC4A2-E360-DFB2-5333-1A94D0A46A03}"/>
              </a:ext>
            </a:extLst>
          </p:cNvPr>
          <p:cNvCxnSpPr>
            <a:cxnSpLocks/>
          </p:cNvCxnSpPr>
          <p:nvPr/>
        </p:nvCxnSpPr>
        <p:spPr>
          <a:xfrm flipH="1">
            <a:off x="3401786" y="5475514"/>
            <a:ext cx="108857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5" name="Rectangle: Rounded Corners 44">
            <a:extLst>
              <a:ext uri="{FF2B5EF4-FFF2-40B4-BE49-F238E27FC236}">
                <a16:creationId xmlns:a16="http://schemas.microsoft.com/office/drawing/2014/main" id="{40D6543F-4775-7A6E-3C39-967DFF6FFAEA}"/>
              </a:ext>
            </a:extLst>
          </p:cNvPr>
          <p:cNvSpPr/>
          <p:nvPr/>
        </p:nvSpPr>
        <p:spPr>
          <a:xfrm>
            <a:off x="868136" y="5146225"/>
            <a:ext cx="2533650" cy="658578"/>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400" b="1" dirty="0"/>
              <a:t>PAYMENT</a:t>
            </a:r>
          </a:p>
        </p:txBody>
      </p:sp>
    </p:spTree>
    <p:extLst>
      <p:ext uri="{BB962C8B-B14F-4D97-AF65-F5344CB8AC3E}">
        <p14:creationId xmlns:p14="http://schemas.microsoft.com/office/powerpoint/2010/main" val="1921172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E69C0-8DCE-E3A1-FD11-CABE9832F1D2}"/>
              </a:ext>
            </a:extLst>
          </p:cNvPr>
          <p:cNvSpPr>
            <a:spLocks noGrp="1"/>
          </p:cNvSpPr>
          <p:nvPr>
            <p:ph type="title"/>
          </p:nvPr>
        </p:nvSpPr>
        <p:spPr/>
        <p:txBody>
          <a:bodyPr/>
          <a:lstStyle/>
          <a:p>
            <a:r>
              <a:rPr lang="en-IN" dirty="0"/>
              <a:t>Market Scope / Use Case</a:t>
            </a:r>
          </a:p>
        </p:txBody>
      </p:sp>
      <p:sp>
        <p:nvSpPr>
          <p:cNvPr id="3" name="Content Placeholder 2">
            <a:extLst>
              <a:ext uri="{FF2B5EF4-FFF2-40B4-BE49-F238E27FC236}">
                <a16:creationId xmlns:a16="http://schemas.microsoft.com/office/drawing/2014/main" id="{95E54EC3-E1BD-42E2-805B-BB55E16DCEE9}"/>
              </a:ext>
            </a:extLst>
          </p:cNvPr>
          <p:cNvSpPr>
            <a:spLocks noGrp="1"/>
          </p:cNvSpPr>
          <p:nvPr>
            <p:ph idx="1"/>
          </p:nvPr>
        </p:nvSpPr>
        <p:spPr/>
        <p:txBody>
          <a:bodyPr/>
          <a:lstStyle/>
          <a:p>
            <a:r>
              <a:rPr lang="en-US" dirty="0"/>
              <a:t>Can be used by logistics companies, warehouse managers, small transport owners.</a:t>
            </a:r>
          </a:p>
          <a:p>
            <a:r>
              <a:rPr lang="en-US" dirty="0"/>
              <a:t>Expands across local and interstate transport.</a:t>
            </a:r>
          </a:p>
          <a:p>
            <a:r>
              <a:rPr lang="en-US" dirty="0"/>
              <a:t>High demand due to the rise of e-commerce deliveries.</a:t>
            </a:r>
            <a:endParaRPr lang="en-IN" dirty="0"/>
          </a:p>
        </p:txBody>
      </p:sp>
      <p:pic>
        <p:nvPicPr>
          <p:cNvPr id="5" name="Picture 4" descr="A warehouse with boxes and boxes&#10;&#10;AI-generated content may be incorrect.">
            <a:extLst>
              <a:ext uri="{FF2B5EF4-FFF2-40B4-BE49-F238E27FC236}">
                <a16:creationId xmlns:a16="http://schemas.microsoft.com/office/drawing/2014/main" id="{A2C48D36-ACCD-4EAD-BCF4-E2259B01A34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036308" y="4057387"/>
            <a:ext cx="3142821" cy="2449190"/>
          </a:xfrm>
          <a:prstGeom prst="rect">
            <a:avLst/>
          </a:prstGeom>
        </p:spPr>
      </p:pic>
      <p:sp>
        <p:nvSpPr>
          <p:cNvPr id="6" name="TextBox 5">
            <a:extLst>
              <a:ext uri="{FF2B5EF4-FFF2-40B4-BE49-F238E27FC236}">
                <a16:creationId xmlns:a16="http://schemas.microsoft.com/office/drawing/2014/main" id="{C31B4904-B87B-92A9-CB9A-E51B297E5103}"/>
              </a:ext>
            </a:extLst>
          </p:cNvPr>
          <p:cNvSpPr txBox="1"/>
          <p:nvPr/>
        </p:nvSpPr>
        <p:spPr>
          <a:xfrm>
            <a:off x="2202065" y="10992852"/>
            <a:ext cx="2610883" cy="369332"/>
          </a:xfrm>
          <a:prstGeom prst="rect">
            <a:avLst/>
          </a:prstGeom>
          <a:noFill/>
        </p:spPr>
        <p:txBody>
          <a:bodyPr wrap="square" rtlCol="0">
            <a:spAutoFit/>
          </a:bodyPr>
          <a:lstStyle/>
          <a:p>
            <a:r>
              <a:rPr lang="en-IN" sz="900">
                <a:hlinkClick r:id="rId3" tooltip="https://courses.lumenlearning.com/wmopen-introductiontobusiness/chapter/introduction-to-supply-chain-management-and-logistics/"/>
              </a:rPr>
              <a:t>This Photo</a:t>
            </a:r>
            <a:r>
              <a:rPr lang="en-IN" sz="900"/>
              <a:t> by Unknown Author is licensed under </a:t>
            </a:r>
            <a:r>
              <a:rPr lang="en-IN" sz="900">
                <a:hlinkClick r:id="rId4" tooltip="https://creativecommons.org/licenses/by/3.0/"/>
              </a:rPr>
              <a:t>CC BY</a:t>
            </a:r>
            <a:endParaRPr lang="en-IN" sz="900"/>
          </a:p>
        </p:txBody>
      </p:sp>
    </p:spTree>
    <p:extLst>
      <p:ext uri="{BB962C8B-B14F-4D97-AF65-F5344CB8AC3E}">
        <p14:creationId xmlns:p14="http://schemas.microsoft.com/office/powerpoint/2010/main" val="3669513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DFEFA-0E47-1456-F71E-85B764BA5B9E}"/>
              </a:ext>
            </a:extLst>
          </p:cNvPr>
          <p:cNvSpPr>
            <a:spLocks noGrp="1"/>
          </p:cNvSpPr>
          <p:nvPr>
            <p:ph type="title"/>
          </p:nvPr>
        </p:nvSpPr>
        <p:spPr/>
        <p:txBody>
          <a:bodyPr/>
          <a:lstStyle/>
          <a:p>
            <a:r>
              <a:rPr lang="en-IN" dirty="0"/>
              <a:t>Future Enhancements</a:t>
            </a:r>
          </a:p>
        </p:txBody>
      </p:sp>
      <p:sp>
        <p:nvSpPr>
          <p:cNvPr id="3" name="Content Placeholder 2">
            <a:extLst>
              <a:ext uri="{FF2B5EF4-FFF2-40B4-BE49-F238E27FC236}">
                <a16:creationId xmlns:a16="http://schemas.microsoft.com/office/drawing/2014/main" id="{43322338-3D8F-45F0-6B87-A3006D07F86B}"/>
              </a:ext>
            </a:extLst>
          </p:cNvPr>
          <p:cNvSpPr>
            <a:spLocks noGrp="1"/>
          </p:cNvSpPr>
          <p:nvPr>
            <p:ph idx="1"/>
          </p:nvPr>
        </p:nvSpPr>
        <p:spPr/>
        <p:txBody>
          <a:bodyPr/>
          <a:lstStyle/>
          <a:p>
            <a:r>
              <a:rPr lang="en-US" dirty="0"/>
              <a:t>AI-based load suggestions</a:t>
            </a:r>
          </a:p>
          <a:p>
            <a:r>
              <a:rPr lang="en-US" dirty="0"/>
              <a:t>Smart route optimization</a:t>
            </a:r>
          </a:p>
          <a:p>
            <a:r>
              <a:rPr lang="en-US" dirty="0"/>
              <a:t>Fuel tracking system</a:t>
            </a:r>
          </a:p>
          <a:p>
            <a:r>
              <a:rPr lang="en-US" dirty="0"/>
              <a:t>Multilingual support for drivers</a:t>
            </a:r>
            <a:endParaRPr lang="en-IN" dirty="0"/>
          </a:p>
        </p:txBody>
      </p:sp>
      <p:pic>
        <p:nvPicPr>
          <p:cNvPr id="5" name="Picture 4" descr="A hand and a robot on a keyboard&#10;&#10;AI-generated content may be incorrect.">
            <a:extLst>
              <a:ext uri="{FF2B5EF4-FFF2-40B4-BE49-F238E27FC236}">
                <a16:creationId xmlns:a16="http://schemas.microsoft.com/office/drawing/2014/main" id="{A12A286D-EA55-635C-BCF1-033D41858A8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32067" y="3955406"/>
            <a:ext cx="4609404" cy="2125662"/>
          </a:xfrm>
          <a:prstGeom prst="rect">
            <a:avLst/>
          </a:prstGeom>
        </p:spPr>
      </p:pic>
      <p:pic>
        <p:nvPicPr>
          <p:cNvPr id="1026" name="Picture 2">
            <a:extLst>
              <a:ext uri="{FF2B5EF4-FFF2-40B4-BE49-F238E27FC236}">
                <a16:creationId xmlns:a16="http://schemas.microsoft.com/office/drawing/2014/main" id="{E3B25783-E381-69F9-E391-7ED7A1416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8156" y="1957895"/>
            <a:ext cx="6159365" cy="3528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9411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7FDA2-4DEC-FCCA-CCD8-5CC48F5BA5FC}"/>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BD6C2456-DC8D-E1EA-510E-7BA5C1C3EBB8}"/>
              </a:ext>
            </a:extLst>
          </p:cNvPr>
          <p:cNvSpPr>
            <a:spLocks noGrp="1"/>
          </p:cNvSpPr>
          <p:nvPr>
            <p:ph idx="1"/>
          </p:nvPr>
        </p:nvSpPr>
        <p:spPr>
          <a:xfrm>
            <a:off x="838200" y="1349829"/>
            <a:ext cx="10515600" cy="4827134"/>
          </a:xfrm>
        </p:spPr>
        <p:txBody>
          <a:bodyPr/>
          <a:lstStyle/>
          <a:p>
            <a:r>
              <a:rPr lang="en-US" dirty="0"/>
              <a:t>Our app enhances efficiency by automating key processes, minimizing manual effort, and enabling real-time access to data for faster decision-making. It reduces costs through optimized resource utilization, paperless operations, and reduced human errors. Additionally, it builds transparency by providing clear data tracking, audit trails, and easy monitoring for all stakeholders—ensuring accountability and trust across every level of operation.</a:t>
            </a:r>
            <a:endParaRPr lang="en-IN" dirty="0"/>
          </a:p>
        </p:txBody>
      </p:sp>
      <p:pic>
        <p:nvPicPr>
          <p:cNvPr id="5" name="Picture 4" descr="A person standing next to a forklift&#10;&#10;AI-generated content may be incorrect.">
            <a:extLst>
              <a:ext uri="{FF2B5EF4-FFF2-40B4-BE49-F238E27FC236}">
                <a16:creationId xmlns:a16="http://schemas.microsoft.com/office/drawing/2014/main" id="{E3E29598-AEFB-63D7-2131-854A1912C1E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049486" y="4239986"/>
            <a:ext cx="3592285" cy="2394856"/>
          </a:xfrm>
          <a:prstGeom prst="rect">
            <a:avLst/>
          </a:prstGeom>
        </p:spPr>
      </p:pic>
    </p:spTree>
    <p:extLst>
      <p:ext uri="{BB962C8B-B14F-4D97-AF65-F5344CB8AC3E}">
        <p14:creationId xmlns:p14="http://schemas.microsoft.com/office/powerpoint/2010/main" val="1915600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7285-0CD6-0B42-5D78-C5DDDE5B49C8}"/>
              </a:ext>
            </a:extLst>
          </p:cNvPr>
          <p:cNvSpPr>
            <a:spLocks noGrp="1"/>
          </p:cNvSpPr>
          <p:nvPr>
            <p:ph type="ctrTitle"/>
          </p:nvPr>
        </p:nvSpPr>
        <p:spPr/>
        <p:txBody>
          <a:bodyPr/>
          <a:lstStyle/>
          <a:p>
            <a:r>
              <a:rPr lang="en-IN" dirty="0"/>
              <a:t>Thank you</a:t>
            </a:r>
            <a:br>
              <a:rPr lang="en-IN" dirty="0"/>
            </a:br>
            <a:r>
              <a:rPr lang="en-IN" dirty="0"/>
              <a:t> </a:t>
            </a:r>
          </a:p>
        </p:txBody>
      </p:sp>
      <p:sp>
        <p:nvSpPr>
          <p:cNvPr id="3" name="Subtitle 2">
            <a:extLst>
              <a:ext uri="{FF2B5EF4-FFF2-40B4-BE49-F238E27FC236}">
                <a16:creationId xmlns:a16="http://schemas.microsoft.com/office/drawing/2014/main" id="{CE87BCBA-C024-1A54-6BDD-F8DE706BDC26}"/>
              </a:ext>
            </a:extLst>
          </p:cNvPr>
          <p:cNvSpPr>
            <a:spLocks noGrp="1"/>
          </p:cNvSpPr>
          <p:nvPr>
            <p:ph type="subTitle" idx="1"/>
          </p:nvPr>
        </p:nvSpPr>
        <p:spPr/>
        <p:txBody>
          <a:bodyPr>
            <a:normAutofit/>
          </a:bodyPr>
          <a:lstStyle/>
          <a:p>
            <a:r>
              <a:rPr lang="en-US" b="1" dirty="0"/>
              <a:t>❓ Questions &amp; Answers</a:t>
            </a:r>
          </a:p>
          <a:p>
            <a:endParaRPr lang="en-US" dirty="0"/>
          </a:p>
          <a:p>
            <a:r>
              <a:rPr lang="en-US" dirty="0"/>
              <a:t>“We’d love to hear your thoughts and feedback!”</a:t>
            </a:r>
          </a:p>
          <a:p>
            <a:endParaRPr lang="en-IN" dirty="0"/>
          </a:p>
        </p:txBody>
      </p:sp>
    </p:spTree>
    <p:extLst>
      <p:ext uri="{BB962C8B-B14F-4D97-AF65-F5344CB8AC3E}">
        <p14:creationId xmlns:p14="http://schemas.microsoft.com/office/powerpoint/2010/main" val="2867527838"/>
      </p:ext>
    </p:extLst>
  </p:cSld>
  <p:clrMapOvr>
    <a:masterClrMapping/>
  </p:clrMapOvr>
</p:sld>
</file>

<file path=ppt/theme/theme1.xml><?xml version="1.0" encoding="utf-8"?>
<a:theme xmlns:a="http://schemas.openxmlformats.org/drawingml/2006/main" name="Office 2013 - 2022 Theme">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204</TotalTime>
  <Words>503</Words>
  <Application>Microsoft Office PowerPoint</Application>
  <PresentationFormat>Widescreen</PresentationFormat>
  <Paragraphs>80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Office 2013 - 2022 Theme</vt:lpstr>
      <vt:lpstr>       Direct Transport Connection App</vt:lpstr>
      <vt:lpstr>Introduction</vt:lpstr>
      <vt:lpstr>How the Idea Works</vt:lpstr>
      <vt:lpstr>PowerPoint Presentation</vt:lpstr>
      <vt:lpstr>Problem Statement</vt:lpstr>
      <vt:lpstr>Aim and objectives</vt:lpstr>
      <vt:lpstr>Proposed Solution</vt:lpstr>
      <vt:lpstr>System Architecture </vt:lpstr>
      <vt:lpstr>Market Scope / Use Case</vt:lpstr>
      <vt:lpstr>Future Enhancements</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 Vardhini S</dc:creator>
  <cp:lastModifiedBy>Harsha Vardhini S</cp:lastModifiedBy>
  <cp:revision>8</cp:revision>
  <dcterms:created xsi:type="dcterms:W3CDTF">2025-11-10T17:33:35Z</dcterms:created>
  <dcterms:modified xsi:type="dcterms:W3CDTF">2025-11-11T06:51:17Z</dcterms:modified>
</cp:coreProperties>
</file>